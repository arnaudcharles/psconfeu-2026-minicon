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97" r:id="rId5"/>
    <p:sldMasterId id="2147483695" r:id="rId6"/>
    <p:sldMasterId id="2147483684" r:id="rId7"/>
  </p:sldMasterIdLst>
  <p:notesMasterIdLst>
    <p:notesMasterId r:id="rId20"/>
  </p:notesMasterIdLst>
  <p:handoutMasterIdLst>
    <p:handoutMasterId r:id="rId21"/>
  </p:handoutMasterIdLst>
  <p:sldIdLst>
    <p:sldId id="273" r:id="rId8"/>
    <p:sldId id="261" r:id="rId9"/>
    <p:sldId id="267" r:id="rId10"/>
    <p:sldId id="260" r:id="rId11"/>
    <p:sldId id="274" r:id="rId12"/>
    <p:sldId id="275" r:id="rId13"/>
    <p:sldId id="266" r:id="rId14"/>
    <p:sldId id="277" r:id="rId15"/>
    <p:sldId id="278" r:id="rId16"/>
    <p:sldId id="279" r:id="rId17"/>
    <p:sldId id="264" r:id="rId18"/>
    <p:sldId id="26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fore the session" id="{9248E0E9-B469-42C5-B521-34DBB63F9E0C}">
          <p14:sldIdLst/>
        </p14:section>
        <p14:section name="The session" id="{9BCE8471-468A-4538-82B3-E4E62B0A593E}">
          <p14:sldIdLst>
            <p14:sldId id="273"/>
            <p14:sldId id="261"/>
            <p14:sldId id="267"/>
            <p14:sldId id="260"/>
            <p14:sldId id="274"/>
            <p14:sldId id="275"/>
            <p14:sldId id="266"/>
            <p14:sldId id="277"/>
            <p14:sldId id="278"/>
            <p14:sldId id="279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195D1"/>
    <a:srgbClr val="0950F5"/>
    <a:srgbClr val="00FA00"/>
    <a:srgbClr val="346297"/>
    <a:srgbClr val="000000"/>
    <a:srgbClr val="3B2B46"/>
    <a:srgbClr val="FFFFFF"/>
    <a:srgbClr val="346296"/>
    <a:srgbClr val="E646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47" autoAdjust="0"/>
    <p:restoredTop sz="80885" autoAdjust="0"/>
  </p:normalViewPr>
  <p:slideViewPr>
    <p:cSldViewPr snapToGrid="0">
      <p:cViewPr varScale="1">
        <p:scale>
          <a:sx n="128" d="100"/>
          <a:sy n="128" d="100"/>
        </p:scale>
        <p:origin x="184" y="3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200" d="100"/>
          <a:sy n="200" d="100"/>
        </p:scale>
        <p:origin x="1392" y="14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ABDC4E67-8CB2-26CB-9842-22F9A691D93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E31EB5F-53B0-CDA3-72A4-3FA9BE40D0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40670-43D7-400A-ABC5-B69E064DBB37}" type="datetimeFigureOut">
              <a:rPr lang="en-GB" smtClean="0"/>
              <a:t>10/10/2026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0EB1E06-E4F0-A1A2-1EFB-AD58FA1AF7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7061963-6110-4C16-C593-C8C56E4881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274045-2E90-4839-9E75-1C1FCF04B5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01830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1B03A4-75C9-4E3D-9183-2102CA9AEC33}" type="datetimeFigureOut">
              <a:rPr lang="en-GB" smtClean="0"/>
              <a:t>10/10/2026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839206-A81D-4F76-8486-302187992F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0807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96006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0954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F0CF1-E978-B741-17A6-3D3251E7E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58D4276-67BB-C052-93E1-344B306634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6C1359D-1868-990B-5D7A-69E69468A0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C81A777-FE8B-B6FD-FF48-EDBA447A1C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40154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361F4-B32F-D9F0-F5EF-C77838A53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4635D85-5225-EFCF-57B2-CFE3CB6577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29CF013-CA67-97AF-F46E-41B69E942E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FBA7B96-55A0-286B-17F1-600F879704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3982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54820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90213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761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0342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41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blue">
    <p:bg>
      <p:bgPr>
        <a:solidFill>
          <a:srgbClr val="34629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8615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1666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5659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4C786-AD10-7D88-1933-9D7659D25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314" y="1852863"/>
            <a:ext cx="7886486" cy="4324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Your bio</a:t>
            </a:r>
            <a:endParaRPr lang="en-GB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BA7B894-6BCA-2B29-BA04-8AAB1735B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313" y="324853"/>
            <a:ext cx="788648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Speaker’s name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3374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FF0C1-723F-8331-7203-2AD1CA3085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00EBD9-8D5A-98D4-BC92-CE5E1C7560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723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D202-8931-7832-6C93-86B82B686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BBC0C-D418-7F75-653D-7BD01A94C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02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93987-4D9C-734A-F0DD-FA7C5E5BF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C8F2A-06F7-926F-11A3-0E18B5E01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760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9D26B-2105-B752-1559-A5E7E3580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B2030-5E24-3C76-AF6E-BEABDB29D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0EF88D-DEBE-FA6D-7C2B-49DE203B99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3025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0F04B-2070-B32A-26F9-689ACEB17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72153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51C8F-389D-6D1D-529E-8F7B5D256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7AB8FD-3AC0-420A-CD1A-4BB2C4DEB2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E0881B-0B39-A9CB-08B8-7FA6C0D98A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27CCB1-27F7-D503-AC18-183950FAE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47285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E4D49-1A5A-DFCF-8CA7-93B2889E2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50198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04708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1FA22-F0C4-1510-0E4C-953C802C4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6368D-1D41-F3F9-3D07-85EFF2CFB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83765E-1500-5380-7D29-9BED9AFAF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641347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19606-9316-A7A0-65BC-635A494F0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637042-5D0D-C650-5659-376D12BF8F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F090A-47F3-1576-D5A3-105EE33762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4897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3B042-3840-06BB-E1DF-E9094D819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CC1C5E-7112-083E-8A66-4B30A4DD39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7364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image" Target="../media/image4.svg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 descr="Une image contenant texte&#10;&#10;Description générée automatiquement">
            <a:extLst>
              <a:ext uri="{FF2B5EF4-FFF2-40B4-BE49-F238E27FC236}">
                <a16:creationId xmlns:a16="http://schemas.microsoft.com/office/drawing/2014/main" id="{46B6AA1A-3151-3AC2-83FB-1C6A4D626CE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E38E8CAF-D224-9556-511F-8D65E9383F2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591" y="137310"/>
            <a:ext cx="4166241" cy="1426795"/>
          </a:xfrm>
          <a:prstGeom prst="rect">
            <a:avLst/>
          </a:prstGeom>
        </p:spPr>
      </p:pic>
      <p:pic>
        <p:nvPicPr>
          <p:cNvPr id="6" name="Image 5" descr="Une image contenant Police, Graphique, logo, capture d’écran&#10;&#10;Le contenu généré par l’IA peut être incorrect.">
            <a:extLst>
              <a:ext uri="{FF2B5EF4-FFF2-40B4-BE49-F238E27FC236}">
                <a16:creationId xmlns:a16="http://schemas.microsoft.com/office/drawing/2014/main" id="{F0EC9367-7C44-A222-C889-638B9852E54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01" y="5935475"/>
            <a:ext cx="2720050" cy="731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929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427B60B6-58D4-7B9F-C29A-CE66AF93F596}"/>
              </a:ext>
            </a:extLst>
          </p:cNvPr>
          <p:cNvSpPr txBox="1">
            <a:spLocks/>
          </p:cNvSpPr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5000">
                <a:latin typeface="Stencil" panose="040409050D0802020404" pitchFamily="82" charset="0"/>
              </a:rPr>
              <a:t> </a:t>
            </a:r>
            <a:endParaRPr lang="en-DE" sz="2500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877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E6A8F4F5-7628-E9E8-23A7-09169C6794F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" y="0"/>
            <a:ext cx="121896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531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GB" sz="5400" b="1" kern="1200" dirty="0">
          <a:solidFill>
            <a:srgbClr val="3B2B4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GB" sz="3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1B01AB94-EEA2-3211-2551-34A16625A1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" y="0"/>
            <a:ext cx="12189631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57010D-0C09-8FBA-F719-A4ED7C3FC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332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054D6-CB61-3142-2199-DDEA2FD483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59BD5C5E-FB1B-A32E-1927-AB6A3C9A66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822738" y="196674"/>
            <a:ext cx="1062038" cy="904875"/>
          </a:xfrm>
          <a:prstGeom prst="rect">
            <a:avLst/>
          </a:prstGeom>
        </p:spPr>
      </p:pic>
      <p:pic>
        <p:nvPicPr>
          <p:cNvPr id="6" name="Image 5" descr="Une image contenant Police, Graphique, logo, capture d’écran&#10;&#10;Le contenu généré par l’IA peut être incorrect.">
            <a:extLst>
              <a:ext uri="{FF2B5EF4-FFF2-40B4-BE49-F238E27FC236}">
                <a16:creationId xmlns:a16="http://schemas.microsoft.com/office/drawing/2014/main" id="{D1DD78C6-1B88-832E-3A91-9845A0002591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2737" y="1062214"/>
            <a:ext cx="1146429" cy="30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699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1" kern="1200">
          <a:solidFill>
            <a:srgbClr val="3B2B4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3200" kern="1200">
          <a:solidFill>
            <a:srgbClr val="346297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FB22B504-146E-1966-17CE-BB797BC6083D}"/>
              </a:ext>
            </a:extLst>
          </p:cNvPr>
          <p:cNvSpPr txBox="1">
            <a:spLocks/>
          </p:cNvSpPr>
          <p:nvPr/>
        </p:nvSpPr>
        <p:spPr>
          <a:xfrm>
            <a:off x="1524000" y="4271395"/>
            <a:ext cx="9144000" cy="631759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kern="1200">
                <a:solidFill>
                  <a:srgbClr val="3B2B46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i="1"/>
              <a:t>Arnaud Charles</a:t>
            </a:r>
            <a:endParaRPr lang="en-GB" b="1" i="1" dirty="0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A169C0FB-08C4-E3EC-573C-91852880EBAA}"/>
              </a:ext>
            </a:extLst>
          </p:cNvPr>
          <p:cNvCxnSpPr/>
          <p:nvPr/>
        </p:nvCxnSpPr>
        <p:spPr>
          <a:xfrm>
            <a:off x="3867150" y="4089400"/>
            <a:ext cx="4508500" cy="0"/>
          </a:xfrm>
          <a:prstGeom prst="line">
            <a:avLst/>
          </a:prstGeom>
          <a:ln>
            <a:solidFill>
              <a:srgbClr val="3B2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el 3">
            <a:extLst>
              <a:ext uri="{FF2B5EF4-FFF2-40B4-BE49-F238E27FC236}">
                <a16:creationId xmlns:a16="http://schemas.microsoft.com/office/drawing/2014/main" id="{0E2348EB-2258-5792-670F-322202E630B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2666707"/>
            <a:ext cx="10515600" cy="1325563"/>
          </a:xfrm>
          <a:prstGeom prst="rect">
            <a:avLst/>
          </a:prstGeom>
        </p:spPr>
        <p:txBody>
          <a:bodyPr anchor="b" anchorCtr="0"/>
          <a:lstStyle/>
          <a:p>
            <a:pPr algn="ctr"/>
            <a:r>
              <a:rPr lang="en-US" sz="6000" b="1">
                <a:solidFill>
                  <a:srgbClr val="346296"/>
                </a:solidFill>
                <a:latin typeface="+mn-lt"/>
              </a:rPr>
              <a:t>I’ve built what was missing in PSRemoting</a:t>
            </a:r>
            <a:endParaRPr lang="en-DE" sz="6000" b="1" dirty="0">
              <a:solidFill>
                <a:srgbClr val="346296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938168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531CB4D-40EE-4CEA-4C1F-A86C158A8A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09061" y="630961"/>
            <a:ext cx="9733280" cy="1325563"/>
          </a:xfrm>
        </p:spPr>
        <p:txBody>
          <a:bodyPr/>
          <a:lstStyle/>
          <a:p>
            <a:pPr rtl="0" eaLnBrk="1" latinLnBrk="0" hangingPunct="1"/>
            <a:r>
              <a:rPr lang="fr-FR" sz="4000" b="1" kern="1200">
                <a:solidFill>
                  <a:srgbClr val="346296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Many thanks to our sponsors:</a:t>
            </a:r>
            <a:endParaRPr lang="en-DE"/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F3695257-056A-EFFE-FDC1-4CEA809E7A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214" y="1713704"/>
            <a:ext cx="10695572" cy="3271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835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A28EE134-D676-F364-A1BD-13FB25592C00}"/>
              </a:ext>
            </a:extLst>
          </p:cNvPr>
          <p:cNvSpPr txBox="1"/>
          <p:nvPr/>
        </p:nvSpPr>
        <p:spPr>
          <a:xfrm>
            <a:off x="1511025" y="3690645"/>
            <a:ext cx="9592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/>
              <a:t>🇧🇪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3312970-1382-905E-DF3A-5D367E6E7736}"/>
              </a:ext>
            </a:extLst>
          </p:cNvPr>
          <p:cNvSpPr txBox="1">
            <a:spLocks/>
          </p:cNvSpPr>
          <p:nvPr/>
        </p:nvSpPr>
        <p:spPr>
          <a:xfrm>
            <a:off x="3467314" y="5051148"/>
            <a:ext cx="7886486" cy="1125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GB"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	 </a:t>
            </a:r>
            <a:r>
              <a:rPr lang="en-US" sz="2400" dirty="0"/>
              <a:t>https://</a:t>
            </a:r>
            <a:r>
              <a:rPr lang="en-US" sz="2400" dirty="0" err="1"/>
              <a:t>www.linkedin.com</a:t>
            </a:r>
            <a:r>
              <a:rPr lang="en-US" sz="2400" dirty="0"/>
              <a:t>/in/</a:t>
            </a:r>
            <a:r>
              <a:rPr lang="en-US" sz="2400" dirty="0" err="1"/>
              <a:t>arnaudcharles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    	  https://</a:t>
            </a:r>
            <a:r>
              <a:rPr lang="en-US" sz="2400" dirty="0" err="1"/>
              <a:t>github.com</a:t>
            </a:r>
            <a:r>
              <a:rPr lang="en-US" sz="2400" dirty="0"/>
              <a:t>/</a:t>
            </a:r>
            <a:r>
              <a:rPr lang="en-US" sz="2400" dirty="0" err="1"/>
              <a:t>arnaudcharles</a:t>
            </a: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63F84C9-7486-D81C-EDE7-12CE856D5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312" y="324852"/>
            <a:ext cx="5838053" cy="1325563"/>
          </a:xfrm>
        </p:spPr>
        <p:txBody>
          <a:bodyPr>
            <a:normAutofit/>
          </a:bodyPr>
          <a:lstStyle/>
          <a:p>
            <a:r>
              <a:rPr lang="en-US" sz="6600" dirty="0">
                <a:solidFill>
                  <a:srgbClr val="346296"/>
                </a:solidFill>
                <a:latin typeface="+mn-lt"/>
                <a:ea typeface="+mn-ea"/>
                <a:cs typeface="+mn-cs"/>
              </a:rPr>
              <a:t>Arnaud Charles</a:t>
            </a:r>
            <a:endParaRPr lang="en-DE" sz="6600" dirty="0">
              <a:solidFill>
                <a:srgbClr val="346296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9E3618-06C9-3574-29CA-2C04DD6A8B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806" y="474558"/>
            <a:ext cx="2739348" cy="28713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797FA8-7016-3901-4BC6-F7F27F427D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2080" y="579438"/>
            <a:ext cx="3711451" cy="8145484"/>
          </a:xfrm>
          <a:prstGeom prst="rect">
            <a:avLst/>
          </a:prstGeom>
        </p:spPr>
      </p:pic>
      <p:pic>
        <p:nvPicPr>
          <p:cNvPr id="10" name="Picture 9" descr="Github Logo - Free social media icons">
            <a:extLst>
              <a:ext uri="{FF2B5EF4-FFF2-40B4-BE49-F238E27FC236}">
                <a16:creationId xmlns:a16="http://schemas.microsoft.com/office/drawing/2014/main" id="{DCE0CF82-EB9E-D199-7061-EDBC5B7926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8209" y="5638485"/>
            <a:ext cx="340158" cy="340158"/>
          </a:xfrm>
          <a:prstGeom prst="rect">
            <a:avLst/>
          </a:prstGeom>
        </p:spPr>
      </p:pic>
      <p:pic>
        <p:nvPicPr>
          <p:cNvPr id="11" name="Picture 10" descr="Linkedin - Icônes social gratuites">
            <a:extLst>
              <a:ext uri="{FF2B5EF4-FFF2-40B4-BE49-F238E27FC236}">
                <a16:creationId xmlns:a16="http://schemas.microsoft.com/office/drawing/2014/main" id="{DA910B7B-50D9-20F2-11CD-A73B0ACD9D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8209" y="5171778"/>
            <a:ext cx="340158" cy="340158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4B2146A-37AB-F492-3AF2-9A28BCFF17F9}"/>
              </a:ext>
            </a:extLst>
          </p:cNvPr>
          <p:cNvSpPr txBox="1">
            <a:spLocks/>
          </p:cNvSpPr>
          <p:nvPr/>
        </p:nvSpPr>
        <p:spPr>
          <a:xfrm>
            <a:off x="3467310" y="1526477"/>
            <a:ext cx="8541809" cy="21641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GB"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Born in 1992, on Windows since Win95, employee in IT since 2015</a:t>
            </a:r>
          </a:p>
          <a:p>
            <a:pPr marL="0" indent="0" algn="ctr">
              <a:buNone/>
            </a:pPr>
            <a:br>
              <a:rPr lang="en-US" sz="2400" dirty="0"/>
            </a:br>
            <a:r>
              <a:rPr lang="en-US" sz="2400" dirty="0"/>
              <a:t>Helpdesk </a:t>
            </a:r>
            <a:r>
              <a:rPr lang="en-US" sz="2400" dirty="0">
                <a:sym typeface="Wingdings" pitchFamily="2" charset="2"/>
              </a:rPr>
              <a:t> Sysadmin  Cloud Engineer  </a:t>
            </a:r>
            <a:r>
              <a:rPr lang="en-US" sz="2400" dirty="0" err="1">
                <a:sym typeface="Wingdings" pitchFamily="2" charset="2"/>
              </a:rPr>
              <a:t>Devops</a:t>
            </a:r>
            <a:r>
              <a:rPr lang="en-US" sz="2400" dirty="0">
                <a:sym typeface="Wingdings" pitchFamily="2" charset="2"/>
              </a:rPr>
              <a:t>  SRE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	</a:t>
            </a:r>
            <a:br>
              <a:rPr lang="en-US" sz="2400" dirty="0"/>
            </a:br>
            <a:r>
              <a:rPr lang="en-US" sz="2400" dirty="0"/>
              <a:t>	 Joined Worldline end of 2023</a:t>
            </a:r>
          </a:p>
          <a:p>
            <a:pPr marL="0" indent="0">
              <a:buNone/>
            </a:pP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15" name="Picture 14" descr="Trust and stability under the new Worldline brand">
            <a:extLst>
              <a:ext uri="{FF2B5EF4-FFF2-40B4-BE49-F238E27FC236}">
                <a16:creationId xmlns:a16="http://schemas.microsoft.com/office/drawing/2014/main" id="{CF6FE7FB-4845-CF50-F117-FAAF24CC5F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6091" y="3060521"/>
            <a:ext cx="724272" cy="407403"/>
          </a:xfrm>
          <a:prstGeom prst="rect">
            <a:avLst/>
          </a:prstGeom>
        </p:spPr>
      </p:pic>
      <p:pic>
        <p:nvPicPr>
          <p:cNvPr id="16" name="Picture 15" descr="Home - PSConfEU">
            <a:extLst>
              <a:ext uri="{FF2B5EF4-FFF2-40B4-BE49-F238E27FC236}">
                <a16:creationId xmlns:a16="http://schemas.microsoft.com/office/drawing/2014/main" id="{A05DFD04-D555-CB13-1F23-1D8035C412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6152" y="4336195"/>
            <a:ext cx="724273" cy="618516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89159B4-CFFE-F5B9-3719-7B8D7B9C128F}"/>
              </a:ext>
            </a:extLst>
          </p:cNvPr>
          <p:cNvSpPr txBox="1">
            <a:spLocks/>
          </p:cNvSpPr>
          <p:nvPr/>
        </p:nvSpPr>
        <p:spPr>
          <a:xfrm>
            <a:off x="3523341" y="4437138"/>
            <a:ext cx="7886486" cy="618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GB"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	Came to </a:t>
            </a:r>
            <a:r>
              <a:rPr lang="en-US" sz="2400" dirty="0" err="1"/>
              <a:t>PSConf</a:t>
            </a:r>
            <a:r>
              <a:rPr lang="en-US" sz="2400" dirty="0"/>
              <a:t> in 2024 and 2025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E0FFF4-02F5-E6C2-04BE-9BBE140126F4}"/>
              </a:ext>
            </a:extLst>
          </p:cNvPr>
          <p:cNvSpPr txBox="1"/>
          <p:nvPr/>
        </p:nvSpPr>
        <p:spPr>
          <a:xfrm>
            <a:off x="4386469" y="3770431"/>
            <a:ext cx="62945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 Expert in nothing, versatile generalist like a multitool </a:t>
            </a:r>
          </a:p>
        </p:txBody>
      </p:sp>
      <p:pic>
        <p:nvPicPr>
          <p:cNvPr id="4" name="Picture 3" descr="Leatherman Wave Plus Multi-tool | Official Site">
            <a:extLst>
              <a:ext uri="{FF2B5EF4-FFF2-40B4-BE49-F238E27FC236}">
                <a16:creationId xmlns:a16="http://schemas.microsoft.com/office/drawing/2014/main" id="{2066E141-0751-F560-A6B9-71B33DC9F0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2007" y="3517619"/>
            <a:ext cx="790415" cy="790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095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91E0F2-FE77-51ED-3F72-223B58926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How it started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D5023A-BA6F-B725-CF78-FD889E577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1375"/>
            <a:ext cx="10515600" cy="459558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/>
              <a:t>PSConf 2024: Lost and impressed</a:t>
            </a:r>
          </a:p>
          <a:p>
            <a:pPr>
              <a:buFont typeface="Wingdings" panose="05000000000000000000" pitchFamily="2" charset="2"/>
              <a:buChar char="§"/>
            </a:pP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3B7038-CA33-64DF-90C8-A5AC71C15AF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70" r="13413" b="34956"/>
          <a:stretch>
            <a:fillRect/>
          </a:stretch>
        </p:blipFill>
        <p:spPr>
          <a:xfrm>
            <a:off x="4648956" y="2397303"/>
            <a:ext cx="2894088" cy="4460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361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1828F-7C56-C9AD-4D0F-6457B215C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017B89-1EFA-076E-9920-D634261A1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How it started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B345EC-3FFB-9798-E95D-EE0FE004D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9859"/>
            <a:ext cx="10515600" cy="4617103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/>
              <a:t>PSConf 2025: Changed my mind. Think different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C3E4AB-0776-7538-C824-63D8BA3BB8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14" r="21451" b="37882"/>
          <a:stretch>
            <a:fillRect/>
          </a:stretch>
        </p:blipFill>
        <p:spPr>
          <a:xfrm>
            <a:off x="4573792" y="2345167"/>
            <a:ext cx="2945803" cy="4512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94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B3E5C-6F31-60CD-F7FE-2F7F5FE05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0005B5-483C-EA8A-EDA4-F1D518A4F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The need that create the idea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E06B1B-BCCF-AFF3-6BF5-34A319CA8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9859"/>
            <a:ext cx="10515600" cy="46171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💡 I’m missing a simple way to edit file remotely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📌  Requirements 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- No dependency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en-US" dirty="0" err="1"/>
              <a:t>WinRM</a:t>
            </a:r>
            <a:r>
              <a:rPr lang="en-US" dirty="0"/>
              <a:t> over HTTPS</a:t>
            </a:r>
          </a:p>
          <a:p>
            <a:pPr>
              <a:buFontTx/>
              <a:buChar char="-"/>
            </a:pPr>
            <a:r>
              <a:rPr lang="en-US" dirty="0"/>
              <a:t>Easy to operate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87838E-0C58-D3A4-A5BC-83952C716FBF}"/>
              </a:ext>
            </a:extLst>
          </p:cNvPr>
          <p:cNvSpPr txBox="1"/>
          <p:nvPr/>
        </p:nvSpPr>
        <p:spPr>
          <a:xfrm>
            <a:off x="5454127" y="2478972"/>
            <a:ext cx="5117353" cy="1200329"/>
          </a:xfrm>
          <a:custGeom>
            <a:avLst/>
            <a:gdLst>
              <a:gd name="csX0" fmla="*/ 0 w 5117353"/>
              <a:gd name="csY0" fmla="*/ 0 h 1200329"/>
              <a:gd name="csX1" fmla="*/ 537322 w 5117353"/>
              <a:gd name="csY1" fmla="*/ 0 h 1200329"/>
              <a:gd name="csX2" fmla="*/ 1125818 w 5117353"/>
              <a:gd name="csY2" fmla="*/ 0 h 1200329"/>
              <a:gd name="csX3" fmla="*/ 1663140 w 5117353"/>
              <a:gd name="csY3" fmla="*/ 0 h 1200329"/>
              <a:gd name="csX4" fmla="*/ 2353982 w 5117353"/>
              <a:gd name="csY4" fmla="*/ 0 h 1200329"/>
              <a:gd name="csX5" fmla="*/ 2993652 w 5117353"/>
              <a:gd name="csY5" fmla="*/ 0 h 1200329"/>
              <a:gd name="csX6" fmla="*/ 3633321 w 5117353"/>
              <a:gd name="csY6" fmla="*/ 0 h 1200329"/>
              <a:gd name="csX7" fmla="*/ 4375337 w 5117353"/>
              <a:gd name="csY7" fmla="*/ 0 h 1200329"/>
              <a:gd name="csX8" fmla="*/ 5117353 w 5117353"/>
              <a:gd name="csY8" fmla="*/ 0 h 1200329"/>
              <a:gd name="csX9" fmla="*/ 5117353 w 5117353"/>
              <a:gd name="csY9" fmla="*/ 564155 h 1200329"/>
              <a:gd name="csX10" fmla="*/ 5117353 w 5117353"/>
              <a:gd name="csY10" fmla="*/ 1200329 h 1200329"/>
              <a:gd name="csX11" fmla="*/ 4631204 w 5117353"/>
              <a:gd name="csY11" fmla="*/ 1200329 h 1200329"/>
              <a:gd name="csX12" fmla="*/ 4093882 w 5117353"/>
              <a:gd name="csY12" fmla="*/ 1200329 h 1200329"/>
              <a:gd name="csX13" fmla="*/ 3403040 w 5117353"/>
              <a:gd name="csY13" fmla="*/ 1200329 h 1200329"/>
              <a:gd name="csX14" fmla="*/ 2661024 w 5117353"/>
              <a:gd name="csY14" fmla="*/ 1200329 h 1200329"/>
              <a:gd name="csX15" fmla="*/ 2072528 w 5117353"/>
              <a:gd name="csY15" fmla="*/ 1200329 h 1200329"/>
              <a:gd name="csX16" fmla="*/ 1330512 w 5117353"/>
              <a:gd name="csY16" fmla="*/ 1200329 h 1200329"/>
              <a:gd name="csX17" fmla="*/ 793190 w 5117353"/>
              <a:gd name="csY17" fmla="*/ 1200329 h 1200329"/>
              <a:gd name="csX18" fmla="*/ 0 w 5117353"/>
              <a:gd name="csY18" fmla="*/ 1200329 h 1200329"/>
              <a:gd name="csX19" fmla="*/ 0 w 5117353"/>
              <a:gd name="csY19" fmla="*/ 636174 h 1200329"/>
              <a:gd name="csX20" fmla="*/ 0 w 5117353"/>
              <a:gd name="csY20" fmla="*/ 0 h 1200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5117353" h="1200329" fill="none" extrusionOk="0">
                <a:moveTo>
                  <a:pt x="0" y="0"/>
                </a:moveTo>
                <a:cubicBezTo>
                  <a:pt x="258308" y="26718"/>
                  <a:pt x="397455" y="-17175"/>
                  <a:pt x="537322" y="0"/>
                </a:cubicBezTo>
                <a:cubicBezTo>
                  <a:pt x="677189" y="17175"/>
                  <a:pt x="870907" y="21439"/>
                  <a:pt x="1125818" y="0"/>
                </a:cubicBezTo>
                <a:cubicBezTo>
                  <a:pt x="1380729" y="-21439"/>
                  <a:pt x="1397583" y="3334"/>
                  <a:pt x="1663140" y="0"/>
                </a:cubicBezTo>
                <a:cubicBezTo>
                  <a:pt x="1928697" y="-3334"/>
                  <a:pt x="2055557" y="-15037"/>
                  <a:pt x="2353982" y="0"/>
                </a:cubicBezTo>
                <a:cubicBezTo>
                  <a:pt x="2652407" y="15037"/>
                  <a:pt x="2808551" y="-2878"/>
                  <a:pt x="2993652" y="0"/>
                </a:cubicBezTo>
                <a:cubicBezTo>
                  <a:pt x="3178753" y="2878"/>
                  <a:pt x="3384354" y="26715"/>
                  <a:pt x="3633321" y="0"/>
                </a:cubicBezTo>
                <a:cubicBezTo>
                  <a:pt x="3882288" y="-26715"/>
                  <a:pt x="4115726" y="35217"/>
                  <a:pt x="4375337" y="0"/>
                </a:cubicBezTo>
                <a:cubicBezTo>
                  <a:pt x="4634948" y="-35217"/>
                  <a:pt x="4833246" y="19871"/>
                  <a:pt x="5117353" y="0"/>
                </a:cubicBezTo>
                <a:cubicBezTo>
                  <a:pt x="5091698" y="140769"/>
                  <a:pt x="5144388" y="352926"/>
                  <a:pt x="5117353" y="564155"/>
                </a:cubicBezTo>
                <a:cubicBezTo>
                  <a:pt x="5090318" y="775384"/>
                  <a:pt x="5091339" y="950978"/>
                  <a:pt x="5117353" y="1200329"/>
                </a:cubicBezTo>
                <a:cubicBezTo>
                  <a:pt x="4917365" y="1216175"/>
                  <a:pt x="4767078" y="1182154"/>
                  <a:pt x="4631204" y="1200329"/>
                </a:cubicBezTo>
                <a:cubicBezTo>
                  <a:pt x="4495330" y="1218504"/>
                  <a:pt x="4231387" y="1192930"/>
                  <a:pt x="4093882" y="1200329"/>
                </a:cubicBezTo>
                <a:cubicBezTo>
                  <a:pt x="3956377" y="1207728"/>
                  <a:pt x="3592795" y="1228028"/>
                  <a:pt x="3403040" y="1200329"/>
                </a:cubicBezTo>
                <a:cubicBezTo>
                  <a:pt x="3213285" y="1172630"/>
                  <a:pt x="2979755" y="1185726"/>
                  <a:pt x="2661024" y="1200329"/>
                </a:cubicBezTo>
                <a:cubicBezTo>
                  <a:pt x="2342293" y="1214932"/>
                  <a:pt x="2287080" y="1210950"/>
                  <a:pt x="2072528" y="1200329"/>
                </a:cubicBezTo>
                <a:cubicBezTo>
                  <a:pt x="1857976" y="1189708"/>
                  <a:pt x="1686803" y="1167065"/>
                  <a:pt x="1330512" y="1200329"/>
                </a:cubicBezTo>
                <a:cubicBezTo>
                  <a:pt x="974221" y="1233593"/>
                  <a:pt x="1040942" y="1186435"/>
                  <a:pt x="793190" y="1200329"/>
                </a:cubicBezTo>
                <a:cubicBezTo>
                  <a:pt x="545438" y="1214223"/>
                  <a:pt x="194024" y="1202458"/>
                  <a:pt x="0" y="1200329"/>
                </a:cubicBezTo>
                <a:cubicBezTo>
                  <a:pt x="3777" y="967254"/>
                  <a:pt x="10930" y="843441"/>
                  <a:pt x="0" y="636174"/>
                </a:cubicBezTo>
                <a:cubicBezTo>
                  <a:pt x="-10930" y="428907"/>
                  <a:pt x="-9677" y="244502"/>
                  <a:pt x="0" y="0"/>
                </a:cubicBezTo>
                <a:close/>
              </a:path>
              <a:path w="5117353" h="1200329" stroke="0" extrusionOk="0">
                <a:moveTo>
                  <a:pt x="0" y="0"/>
                </a:moveTo>
                <a:cubicBezTo>
                  <a:pt x="188908" y="8164"/>
                  <a:pt x="384793" y="15609"/>
                  <a:pt x="588496" y="0"/>
                </a:cubicBezTo>
                <a:cubicBezTo>
                  <a:pt x="792199" y="-15609"/>
                  <a:pt x="971965" y="-6158"/>
                  <a:pt x="1074644" y="0"/>
                </a:cubicBezTo>
                <a:cubicBezTo>
                  <a:pt x="1177323" y="6158"/>
                  <a:pt x="1523571" y="-22485"/>
                  <a:pt x="1816660" y="0"/>
                </a:cubicBezTo>
                <a:cubicBezTo>
                  <a:pt x="2109749" y="22485"/>
                  <a:pt x="2267485" y="8611"/>
                  <a:pt x="2405156" y="0"/>
                </a:cubicBezTo>
                <a:cubicBezTo>
                  <a:pt x="2542827" y="-8611"/>
                  <a:pt x="2736331" y="13531"/>
                  <a:pt x="2993652" y="0"/>
                </a:cubicBezTo>
                <a:cubicBezTo>
                  <a:pt x="3250973" y="-13531"/>
                  <a:pt x="3388685" y="-31836"/>
                  <a:pt x="3735668" y="0"/>
                </a:cubicBezTo>
                <a:cubicBezTo>
                  <a:pt x="4082651" y="31836"/>
                  <a:pt x="4160749" y="26249"/>
                  <a:pt x="4272990" y="0"/>
                </a:cubicBezTo>
                <a:cubicBezTo>
                  <a:pt x="4385231" y="-26249"/>
                  <a:pt x="4786269" y="-395"/>
                  <a:pt x="5117353" y="0"/>
                </a:cubicBezTo>
                <a:cubicBezTo>
                  <a:pt x="5111898" y="222972"/>
                  <a:pt x="5088580" y="407539"/>
                  <a:pt x="5117353" y="624171"/>
                </a:cubicBezTo>
                <a:cubicBezTo>
                  <a:pt x="5146126" y="840803"/>
                  <a:pt x="5117875" y="1071893"/>
                  <a:pt x="5117353" y="1200329"/>
                </a:cubicBezTo>
                <a:cubicBezTo>
                  <a:pt x="4803894" y="1183296"/>
                  <a:pt x="4731857" y="1199712"/>
                  <a:pt x="4477684" y="1200329"/>
                </a:cubicBezTo>
                <a:cubicBezTo>
                  <a:pt x="4223511" y="1200946"/>
                  <a:pt x="4118556" y="1208899"/>
                  <a:pt x="3889188" y="1200329"/>
                </a:cubicBezTo>
                <a:cubicBezTo>
                  <a:pt x="3659820" y="1191759"/>
                  <a:pt x="3322528" y="1179938"/>
                  <a:pt x="3147172" y="1200329"/>
                </a:cubicBezTo>
                <a:cubicBezTo>
                  <a:pt x="2971816" y="1220720"/>
                  <a:pt x="2641640" y="1190410"/>
                  <a:pt x="2405156" y="1200329"/>
                </a:cubicBezTo>
                <a:cubicBezTo>
                  <a:pt x="2168672" y="1210248"/>
                  <a:pt x="2073082" y="1224924"/>
                  <a:pt x="1867834" y="1200329"/>
                </a:cubicBezTo>
                <a:cubicBezTo>
                  <a:pt x="1662586" y="1175734"/>
                  <a:pt x="1402060" y="1186017"/>
                  <a:pt x="1228165" y="1200329"/>
                </a:cubicBezTo>
                <a:cubicBezTo>
                  <a:pt x="1054270" y="1214641"/>
                  <a:pt x="414901" y="1251050"/>
                  <a:pt x="0" y="1200329"/>
                </a:cubicBezTo>
                <a:cubicBezTo>
                  <a:pt x="-12754" y="1016038"/>
                  <a:pt x="-7674" y="845247"/>
                  <a:pt x="0" y="600165"/>
                </a:cubicBezTo>
                <a:cubicBezTo>
                  <a:pt x="7674" y="355083"/>
                  <a:pt x="-9784" y="177226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5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dirty="0"/>
              <a:t>✔️ Internal PowerShell module</a:t>
            </a:r>
            <a:br>
              <a:rPr lang="en-US" dirty="0"/>
            </a:br>
            <a:r>
              <a:rPr lang="en-US" dirty="0"/>
              <a:t>✔️ PCI DSS Compliant</a:t>
            </a:r>
          </a:p>
          <a:p>
            <a:r>
              <a:rPr lang="en-US" dirty="0"/>
              <a:t>✔️ No need to add external apps that add risk</a:t>
            </a:r>
          </a:p>
          <a:p>
            <a:r>
              <a:rPr lang="en-US" dirty="0"/>
              <a:t>✔️ No licenses or justification to provide to auditor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B84235-6913-9E6E-7DA8-509E34FBA8D2}"/>
              </a:ext>
            </a:extLst>
          </p:cNvPr>
          <p:cNvSpPr txBox="1"/>
          <p:nvPr/>
        </p:nvSpPr>
        <p:spPr>
          <a:xfrm>
            <a:off x="5590091" y="5245074"/>
            <a:ext cx="5117353" cy="2194560"/>
          </a:xfr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5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3410891071"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endParaRPr lang="en-US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B4F03FF-E6CA-C580-FB01-38E07F2F2E1B}"/>
              </a:ext>
            </a:extLst>
          </p:cNvPr>
          <p:cNvCxnSpPr>
            <a:cxnSpLocks/>
          </p:cNvCxnSpPr>
          <p:nvPr/>
        </p:nvCxnSpPr>
        <p:spPr>
          <a:xfrm flipV="1">
            <a:off x="4431298" y="3169920"/>
            <a:ext cx="900874" cy="919718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BD34A7C-407C-2E72-077E-8B73D8F62F57}"/>
              </a:ext>
            </a:extLst>
          </p:cNvPr>
          <p:cNvCxnSpPr>
            <a:cxnSpLocks/>
          </p:cNvCxnSpPr>
          <p:nvPr/>
        </p:nvCxnSpPr>
        <p:spPr>
          <a:xfrm flipV="1">
            <a:off x="5010912" y="4564251"/>
            <a:ext cx="901691" cy="76534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81FBAAB-2343-4D8D-0D90-6E284BDB9271}"/>
              </a:ext>
            </a:extLst>
          </p:cNvPr>
          <p:cNvCxnSpPr/>
          <p:nvPr/>
        </p:nvCxnSpPr>
        <p:spPr>
          <a:xfrm>
            <a:off x="4205758" y="5395026"/>
            <a:ext cx="1186375" cy="173844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E378EB9-EEB2-BEA4-1B8C-0899401B9060}"/>
              </a:ext>
            </a:extLst>
          </p:cNvPr>
          <p:cNvSpPr txBox="1"/>
          <p:nvPr/>
        </p:nvSpPr>
        <p:spPr>
          <a:xfrm>
            <a:off x="6096000" y="4172062"/>
            <a:ext cx="5117353" cy="2194560"/>
          </a:xfr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2357136044"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872BA1-578C-5E16-5B05-6245885BB51F}"/>
              </a:ext>
            </a:extLst>
          </p:cNvPr>
          <p:cNvSpPr txBox="1"/>
          <p:nvPr/>
        </p:nvSpPr>
        <p:spPr>
          <a:xfrm>
            <a:off x="6053050" y="4227704"/>
            <a:ext cx="5117353" cy="646331"/>
          </a:xfrm>
          <a:custGeom>
            <a:avLst/>
            <a:gdLst>
              <a:gd name="csX0" fmla="*/ 0 w 5117353"/>
              <a:gd name="csY0" fmla="*/ 0 h 646331"/>
              <a:gd name="csX1" fmla="*/ 537322 w 5117353"/>
              <a:gd name="csY1" fmla="*/ 0 h 646331"/>
              <a:gd name="csX2" fmla="*/ 1228165 w 5117353"/>
              <a:gd name="csY2" fmla="*/ 0 h 646331"/>
              <a:gd name="csX3" fmla="*/ 1816660 w 5117353"/>
              <a:gd name="csY3" fmla="*/ 0 h 646331"/>
              <a:gd name="csX4" fmla="*/ 2353982 w 5117353"/>
              <a:gd name="csY4" fmla="*/ 0 h 646331"/>
              <a:gd name="csX5" fmla="*/ 3044825 w 5117353"/>
              <a:gd name="csY5" fmla="*/ 0 h 646331"/>
              <a:gd name="csX6" fmla="*/ 3684494 w 5117353"/>
              <a:gd name="csY6" fmla="*/ 0 h 646331"/>
              <a:gd name="csX7" fmla="*/ 4324163 w 5117353"/>
              <a:gd name="csY7" fmla="*/ 0 h 646331"/>
              <a:gd name="csX8" fmla="*/ 5117353 w 5117353"/>
              <a:gd name="csY8" fmla="*/ 0 h 646331"/>
              <a:gd name="csX9" fmla="*/ 5117353 w 5117353"/>
              <a:gd name="csY9" fmla="*/ 646331 h 646331"/>
              <a:gd name="csX10" fmla="*/ 4580031 w 5117353"/>
              <a:gd name="csY10" fmla="*/ 646331 h 646331"/>
              <a:gd name="csX11" fmla="*/ 4093882 w 5117353"/>
              <a:gd name="csY11" fmla="*/ 646331 h 646331"/>
              <a:gd name="csX12" fmla="*/ 3403040 w 5117353"/>
              <a:gd name="csY12" fmla="*/ 646331 h 646331"/>
              <a:gd name="csX13" fmla="*/ 2865718 w 5117353"/>
              <a:gd name="csY13" fmla="*/ 646331 h 646331"/>
              <a:gd name="csX14" fmla="*/ 2174875 w 5117353"/>
              <a:gd name="csY14" fmla="*/ 646331 h 646331"/>
              <a:gd name="csX15" fmla="*/ 1432859 w 5117353"/>
              <a:gd name="csY15" fmla="*/ 646331 h 646331"/>
              <a:gd name="csX16" fmla="*/ 844363 w 5117353"/>
              <a:gd name="csY16" fmla="*/ 646331 h 646331"/>
              <a:gd name="csX17" fmla="*/ 0 w 5117353"/>
              <a:gd name="csY17" fmla="*/ 646331 h 646331"/>
              <a:gd name="csX18" fmla="*/ 0 w 5117353"/>
              <a:gd name="csY18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117353" h="646331" fill="none" extrusionOk="0">
                <a:moveTo>
                  <a:pt x="0" y="0"/>
                </a:moveTo>
                <a:cubicBezTo>
                  <a:pt x="162539" y="-9656"/>
                  <a:pt x="330858" y="18659"/>
                  <a:pt x="537322" y="0"/>
                </a:cubicBezTo>
                <a:cubicBezTo>
                  <a:pt x="743786" y="-18659"/>
                  <a:pt x="988588" y="34074"/>
                  <a:pt x="1228165" y="0"/>
                </a:cubicBezTo>
                <a:cubicBezTo>
                  <a:pt x="1467742" y="-34074"/>
                  <a:pt x="1562454" y="21869"/>
                  <a:pt x="1816660" y="0"/>
                </a:cubicBezTo>
                <a:cubicBezTo>
                  <a:pt x="2070867" y="-21869"/>
                  <a:pt x="2088425" y="3334"/>
                  <a:pt x="2353982" y="0"/>
                </a:cubicBezTo>
                <a:cubicBezTo>
                  <a:pt x="2619539" y="-3334"/>
                  <a:pt x="2744856" y="-18971"/>
                  <a:pt x="3044825" y="0"/>
                </a:cubicBezTo>
                <a:cubicBezTo>
                  <a:pt x="3344794" y="18971"/>
                  <a:pt x="3504876" y="560"/>
                  <a:pt x="3684494" y="0"/>
                </a:cubicBezTo>
                <a:cubicBezTo>
                  <a:pt x="3864112" y="-560"/>
                  <a:pt x="4075196" y="26715"/>
                  <a:pt x="4324163" y="0"/>
                </a:cubicBezTo>
                <a:cubicBezTo>
                  <a:pt x="4573130" y="-26715"/>
                  <a:pt x="4808598" y="25678"/>
                  <a:pt x="5117353" y="0"/>
                </a:cubicBezTo>
                <a:cubicBezTo>
                  <a:pt x="5122896" y="247860"/>
                  <a:pt x="5129278" y="447788"/>
                  <a:pt x="5117353" y="646331"/>
                </a:cubicBezTo>
                <a:cubicBezTo>
                  <a:pt x="4930135" y="657624"/>
                  <a:pt x="4709740" y="640373"/>
                  <a:pt x="4580031" y="646331"/>
                </a:cubicBezTo>
                <a:cubicBezTo>
                  <a:pt x="4450322" y="652289"/>
                  <a:pt x="4218154" y="640706"/>
                  <a:pt x="4093882" y="646331"/>
                </a:cubicBezTo>
                <a:cubicBezTo>
                  <a:pt x="3969610" y="651956"/>
                  <a:pt x="3692863" y="657470"/>
                  <a:pt x="3403040" y="646331"/>
                </a:cubicBezTo>
                <a:cubicBezTo>
                  <a:pt x="3113217" y="635192"/>
                  <a:pt x="3003223" y="638932"/>
                  <a:pt x="2865718" y="646331"/>
                </a:cubicBezTo>
                <a:cubicBezTo>
                  <a:pt x="2728213" y="653730"/>
                  <a:pt x="2369927" y="679025"/>
                  <a:pt x="2174875" y="646331"/>
                </a:cubicBezTo>
                <a:cubicBezTo>
                  <a:pt x="1979823" y="613637"/>
                  <a:pt x="1751590" y="631728"/>
                  <a:pt x="1432859" y="646331"/>
                </a:cubicBezTo>
                <a:cubicBezTo>
                  <a:pt x="1114128" y="660934"/>
                  <a:pt x="1058915" y="656952"/>
                  <a:pt x="844363" y="646331"/>
                </a:cubicBezTo>
                <a:cubicBezTo>
                  <a:pt x="629811" y="635710"/>
                  <a:pt x="299727" y="656478"/>
                  <a:pt x="0" y="646331"/>
                </a:cubicBezTo>
                <a:cubicBezTo>
                  <a:pt x="-28415" y="483372"/>
                  <a:pt x="-25004" y="251337"/>
                  <a:pt x="0" y="0"/>
                </a:cubicBezTo>
                <a:close/>
              </a:path>
              <a:path w="5117353" h="646331" stroke="0" extrusionOk="0">
                <a:moveTo>
                  <a:pt x="0" y="0"/>
                </a:moveTo>
                <a:cubicBezTo>
                  <a:pt x="188908" y="8164"/>
                  <a:pt x="384793" y="15609"/>
                  <a:pt x="588496" y="0"/>
                </a:cubicBezTo>
                <a:cubicBezTo>
                  <a:pt x="792199" y="-15609"/>
                  <a:pt x="971965" y="-6158"/>
                  <a:pt x="1074644" y="0"/>
                </a:cubicBezTo>
                <a:cubicBezTo>
                  <a:pt x="1177323" y="6158"/>
                  <a:pt x="1523571" y="-22485"/>
                  <a:pt x="1816660" y="0"/>
                </a:cubicBezTo>
                <a:cubicBezTo>
                  <a:pt x="2109749" y="22485"/>
                  <a:pt x="2267485" y="8611"/>
                  <a:pt x="2405156" y="0"/>
                </a:cubicBezTo>
                <a:cubicBezTo>
                  <a:pt x="2542827" y="-8611"/>
                  <a:pt x="2736331" y="13531"/>
                  <a:pt x="2993652" y="0"/>
                </a:cubicBezTo>
                <a:cubicBezTo>
                  <a:pt x="3250973" y="-13531"/>
                  <a:pt x="3388685" y="-31836"/>
                  <a:pt x="3735668" y="0"/>
                </a:cubicBezTo>
                <a:cubicBezTo>
                  <a:pt x="4082651" y="31836"/>
                  <a:pt x="4160749" y="26249"/>
                  <a:pt x="4272990" y="0"/>
                </a:cubicBezTo>
                <a:cubicBezTo>
                  <a:pt x="4385231" y="-26249"/>
                  <a:pt x="4786269" y="-395"/>
                  <a:pt x="5117353" y="0"/>
                </a:cubicBezTo>
                <a:cubicBezTo>
                  <a:pt x="5127884" y="255176"/>
                  <a:pt x="5146887" y="383225"/>
                  <a:pt x="5117353" y="646331"/>
                </a:cubicBezTo>
                <a:cubicBezTo>
                  <a:pt x="4937566" y="650822"/>
                  <a:pt x="4823487" y="641345"/>
                  <a:pt x="4580031" y="646331"/>
                </a:cubicBezTo>
                <a:cubicBezTo>
                  <a:pt x="4336575" y="651317"/>
                  <a:pt x="4194535" y="645714"/>
                  <a:pt x="3940362" y="646331"/>
                </a:cubicBezTo>
                <a:cubicBezTo>
                  <a:pt x="3686189" y="646948"/>
                  <a:pt x="3581234" y="654901"/>
                  <a:pt x="3351866" y="646331"/>
                </a:cubicBezTo>
                <a:cubicBezTo>
                  <a:pt x="3122498" y="637761"/>
                  <a:pt x="2785206" y="625940"/>
                  <a:pt x="2609850" y="646331"/>
                </a:cubicBezTo>
                <a:cubicBezTo>
                  <a:pt x="2434494" y="666722"/>
                  <a:pt x="2104318" y="636412"/>
                  <a:pt x="1867834" y="646331"/>
                </a:cubicBezTo>
                <a:cubicBezTo>
                  <a:pt x="1631350" y="656250"/>
                  <a:pt x="1535760" y="670926"/>
                  <a:pt x="1330512" y="646331"/>
                </a:cubicBezTo>
                <a:cubicBezTo>
                  <a:pt x="1125264" y="621736"/>
                  <a:pt x="864738" y="632019"/>
                  <a:pt x="690843" y="646331"/>
                </a:cubicBezTo>
                <a:cubicBezTo>
                  <a:pt x="516948" y="660643"/>
                  <a:pt x="195101" y="655204"/>
                  <a:pt x="0" y="646331"/>
                </a:cubicBezTo>
                <a:cubicBezTo>
                  <a:pt x="30194" y="329306"/>
                  <a:pt x="-29401" y="214000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5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dirty="0"/>
              <a:t>✔️ Keep working with AD DS Tier Model</a:t>
            </a:r>
          </a:p>
          <a:p>
            <a:r>
              <a:rPr lang="en-US" dirty="0"/>
              <a:t>✔️ Doesn’t need approval or big changes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02C069-22D7-17DD-6DD3-198771A13E21}"/>
              </a:ext>
            </a:extLst>
          </p:cNvPr>
          <p:cNvSpPr txBox="1"/>
          <p:nvPr/>
        </p:nvSpPr>
        <p:spPr>
          <a:xfrm>
            <a:off x="5532580" y="5133546"/>
            <a:ext cx="5117353" cy="923330"/>
          </a:xfrm>
          <a:custGeom>
            <a:avLst/>
            <a:gdLst>
              <a:gd name="csX0" fmla="*/ 0 w 5117353"/>
              <a:gd name="csY0" fmla="*/ 0 h 923330"/>
              <a:gd name="csX1" fmla="*/ 537322 w 5117353"/>
              <a:gd name="csY1" fmla="*/ 0 h 923330"/>
              <a:gd name="csX2" fmla="*/ 1125818 w 5117353"/>
              <a:gd name="csY2" fmla="*/ 0 h 923330"/>
              <a:gd name="csX3" fmla="*/ 1663140 w 5117353"/>
              <a:gd name="csY3" fmla="*/ 0 h 923330"/>
              <a:gd name="csX4" fmla="*/ 2353982 w 5117353"/>
              <a:gd name="csY4" fmla="*/ 0 h 923330"/>
              <a:gd name="csX5" fmla="*/ 2993652 w 5117353"/>
              <a:gd name="csY5" fmla="*/ 0 h 923330"/>
              <a:gd name="csX6" fmla="*/ 3633321 w 5117353"/>
              <a:gd name="csY6" fmla="*/ 0 h 923330"/>
              <a:gd name="csX7" fmla="*/ 4375337 w 5117353"/>
              <a:gd name="csY7" fmla="*/ 0 h 923330"/>
              <a:gd name="csX8" fmla="*/ 5117353 w 5117353"/>
              <a:gd name="csY8" fmla="*/ 0 h 923330"/>
              <a:gd name="csX9" fmla="*/ 5117353 w 5117353"/>
              <a:gd name="csY9" fmla="*/ 433965 h 923330"/>
              <a:gd name="csX10" fmla="*/ 5117353 w 5117353"/>
              <a:gd name="csY10" fmla="*/ 923330 h 923330"/>
              <a:gd name="csX11" fmla="*/ 4631204 w 5117353"/>
              <a:gd name="csY11" fmla="*/ 923330 h 923330"/>
              <a:gd name="csX12" fmla="*/ 4093882 w 5117353"/>
              <a:gd name="csY12" fmla="*/ 923330 h 923330"/>
              <a:gd name="csX13" fmla="*/ 3403040 w 5117353"/>
              <a:gd name="csY13" fmla="*/ 923330 h 923330"/>
              <a:gd name="csX14" fmla="*/ 2661024 w 5117353"/>
              <a:gd name="csY14" fmla="*/ 923330 h 923330"/>
              <a:gd name="csX15" fmla="*/ 2072528 w 5117353"/>
              <a:gd name="csY15" fmla="*/ 923330 h 923330"/>
              <a:gd name="csX16" fmla="*/ 1330512 w 5117353"/>
              <a:gd name="csY16" fmla="*/ 923330 h 923330"/>
              <a:gd name="csX17" fmla="*/ 793190 w 5117353"/>
              <a:gd name="csY17" fmla="*/ 923330 h 923330"/>
              <a:gd name="csX18" fmla="*/ 0 w 5117353"/>
              <a:gd name="csY18" fmla="*/ 923330 h 923330"/>
              <a:gd name="csX19" fmla="*/ 0 w 5117353"/>
              <a:gd name="csY19" fmla="*/ 489365 h 923330"/>
              <a:gd name="csX20" fmla="*/ 0 w 5117353"/>
              <a:gd name="csY20" fmla="*/ 0 h 9233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5117353" h="923330" fill="none" extrusionOk="0">
                <a:moveTo>
                  <a:pt x="0" y="0"/>
                </a:moveTo>
                <a:cubicBezTo>
                  <a:pt x="258308" y="26718"/>
                  <a:pt x="397455" y="-17175"/>
                  <a:pt x="537322" y="0"/>
                </a:cubicBezTo>
                <a:cubicBezTo>
                  <a:pt x="677189" y="17175"/>
                  <a:pt x="870907" y="21439"/>
                  <a:pt x="1125818" y="0"/>
                </a:cubicBezTo>
                <a:cubicBezTo>
                  <a:pt x="1380729" y="-21439"/>
                  <a:pt x="1397583" y="3334"/>
                  <a:pt x="1663140" y="0"/>
                </a:cubicBezTo>
                <a:cubicBezTo>
                  <a:pt x="1928697" y="-3334"/>
                  <a:pt x="2055557" y="-15037"/>
                  <a:pt x="2353982" y="0"/>
                </a:cubicBezTo>
                <a:cubicBezTo>
                  <a:pt x="2652407" y="15037"/>
                  <a:pt x="2808551" y="-2878"/>
                  <a:pt x="2993652" y="0"/>
                </a:cubicBezTo>
                <a:cubicBezTo>
                  <a:pt x="3178753" y="2878"/>
                  <a:pt x="3384354" y="26715"/>
                  <a:pt x="3633321" y="0"/>
                </a:cubicBezTo>
                <a:cubicBezTo>
                  <a:pt x="3882288" y="-26715"/>
                  <a:pt x="4115726" y="35217"/>
                  <a:pt x="4375337" y="0"/>
                </a:cubicBezTo>
                <a:cubicBezTo>
                  <a:pt x="4634948" y="-35217"/>
                  <a:pt x="4833246" y="19871"/>
                  <a:pt x="5117353" y="0"/>
                </a:cubicBezTo>
                <a:cubicBezTo>
                  <a:pt x="5111914" y="216138"/>
                  <a:pt x="5122602" y="298925"/>
                  <a:pt x="5117353" y="433965"/>
                </a:cubicBezTo>
                <a:cubicBezTo>
                  <a:pt x="5112104" y="569006"/>
                  <a:pt x="5105494" y="702554"/>
                  <a:pt x="5117353" y="923330"/>
                </a:cubicBezTo>
                <a:cubicBezTo>
                  <a:pt x="4917365" y="939176"/>
                  <a:pt x="4767078" y="905155"/>
                  <a:pt x="4631204" y="923330"/>
                </a:cubicBezTo>
                <a:cubicBezTo>
                  <a:pt x="4495330" y="941505"/>
                  <a:pt x="4231387" y="915931"/>
                  <a:pt x="4093882" y="923330"/>
                </a:cubicBezTo>
                <a:cubicBezTo>
                  <a:pt x="3956377" y="930729"/>
                  <a:pt x="3592795" y="951029"/>
                  <a:pt x="3403040" y="923330"/>
                </a:cubicBezTo>
                <a:cubicBezTo>
                  <a:pt x="3213285" y="895631"/>
                  <a:pt x="2979755" y="908727"/>
                  <a:pt x="2661024" y="923330"/>
                </a:cubicBezTo>
                <a:cubicBezTo>
                  <a:pt x="2342293" y="937933"/>
                  <a:pt x="2287080" y="933951"/>
                  <a:pt x="2072528" y="923330"/>
                </a:cubicBezTo>
                <a:cubicBezTo>
                  <a:pt x="1857976" y="912709"/>
                  <a:pt x="1686803" y="890066"/>
                  <a:pt x="1330512" y="923330"/>
                </a:cubicBezTo>
                <a:cubicBezTo>
                  <a:pt x="974221" y="956594"/>
                  <a:pt x="1040942" y="909436"/>
                  <a:pt x="793190" y="923330"/>
                </a:cubicBezTo>
                <a:cubicBezTo>
                  <a:pt x="545438" y="937224"/>
                  <a:pt x="194024" y="925459"/>
                  <a:pt x="0" y="923330"/>
                </a:cubicBezTo>
                <a:cubicBezTo>
                  <a:pt x="-5034" y="783585"/>
                  <a:pt x="18521" y="673278"/>
                  <a:pt x="0" y="489365"/>
                </a:cubicBezTo>
                <a:cubicBezTo>
                  <a:pt x="-18521" y="305453"/>
                  <a:pt x="4851" y="205530"/>
                  <a:pt x="0" y="0"/>
                </a:cubicBezTo>
                <a:close/>
              </a:path>
              <a:path w="5117353" h="923330" stroke="0" extrusionOk="0">
                <a:moveTo>
                  <a:pt x="0" y="0"/>
                </a:moveTo>
                <a:cubicBezTo>
                  <a:pt x="188908" y="8164"/>
                  <a:pt x="384793" y="15609"/>
                  <a:pt x="588496" y="0"/>
                </a:cubicBezTo>
                <a:cubicBezTo>
                  <a:pt x="792199" y="-15609"/>
                  <a:pt x="971965" y="-6158"/>
                  <a:pt x="1074644" y="0"/>
                </a:cubicBezTo>
                <a:cubicBezTo>
                  <a:pt x="1177323" y="6158"/>
                  <a:pt x="1523571" y="-22485"/>
                  <a:pt x="1816660" y="0"/>
                </a:cubicBezTo>
                <a:cubicBezTo>
                  <a:pt x="2109749" y="22485"/>
                  <a:pt x="2267485" y="8611"/>
                  <a:pt x="2405156" y="0"/>
                </a:cubicBezTo>
                <a:cubicBezTo>
                  <a:pt x="2542827" y="-8611"/>
                  <a:pt x="2736331" y="13531"/>
                  <a:pt x="2993652" y="0"/>
                </a:cubicBezTo>
                <a:cubicBezTo>
                  <a:pt x="3250973" y="-13531"/>
                  <a:pt x="3388685" y="-31836"/>
                  <a:pt x="3735668" y="0"/>
                </a:cubicBezTo>
                <a:cubicBezTo>
                  <a:pt x="4082651" y="31836"/>
                  <a:pt x="4160749" y="26249"/>
                  <a:pt x="4272990" y="0"/>
                </a:cubicBezTo>
                <a:cubicBezTo>
                  <a:pt x="4385231" y="-26249"/>
                  <a:pt x="4786269" y="-395"/>
                  <a:pt x="5117353" y="0"/>
                </a:cubicBezTo>
                <a:cubicBezTo>
                  <a:pt x="5105487" y="118772"/>
                  <a:pt x="5098192" y="274989"/>
                  <a:pt x="5117353" y="480132"/>
                </a:cubicBezTo>
                <a:cubicBezTo>
                  <a:pt x="5136514" y="685275"/>
                  <a:pt x="5104120" y="820805"/>
                  <a:pt x="5117353" y="923330"/>
                </a:cubicBezTo>
                <a:cubicBezTo>
                  <a:pt x="4803894" y="906297"/>
                  <a:pt x="4731857" y="922713"/>
                  <a:pt x="4477684" y="923330"/>
                </a:cubicBezTo>
                <a:cubicBezTo>
                  <a:pt x="4223511" y="923947"/>
                  <a:pt x="4118556" y="931900"/>
                  <a:pt x="3889188" y="923330"/>
                </a:cubicBezTo>
                <a:cubicBezTo>
                  <a:pt x="3659820" y="914760"/>
                  <a:pt x="3322528" y="902939"/>
                  <a:pt x="3147172" y="923330"/>
                </a:cubicBezTo>
                <a:cubicBezTo>
                  <a:pt x="2971816" y="943721"/>
                  <a:pt x="2641640" y="913411"/>
                  <a:pt x="2405156" y="923330"/>
                </a:cubicBezTo>
                <a:cubicBezTo>
                  <a:pt x="2168672" y="933249"/>
                  <a:pt x="2073082" y="947925"/>
                  <a:pt x="1867834" y="923330"/>
                </a:cubicBezTo>
                <a:cubicBezTo>
                  <a:pt x="1662586" y="898735"/>
                  <a:pt x="1402060" y="909018"/>
                  <a:pt x="1228165" y="923330"/>
                </a:cubicBezTo>
                <a:cubicBezTo>
                  <a:pt x="1054270" y="937642"/>
                  <a:pt x="414901" y="974051"/>
                  <a:pt x="0" y="923330"/>
                </a:cubicBezTo>
                <a:cubicBezTo>
                  <a:pt x="-6739" y="731769"/>
                  <a:pt x="7532" y="589170"/>
                  <a:pt x="0" y="461665"/>
                </a:cubicBezTo>
                <a:cubicBezTo>
                  <a:pt x="-7532" y="334160"/>
                  <a:pt x="-2149" y="122032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5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dirty="0"/>
              <a:t>✔️ No </a:t>
            </a:r>
            <a:r>
              <a:rPr lang="en-US" dirty="0" err="1"/>
              <a:t>PSEdit</a:t>
            </a:r>
            <a:r>
              <a:rPr lang="en-US" dirty="0"/>
              <a:t> with ISE</a:t>
            </a:r>
          </a:p>
          <a:p>
            <a:r>
              <a:rPr lang="en-US" dirty="0"/>
              <a:t>✔️ No Get-Content / Set-Content</a:t>
            </a:r>
            <a:br>
              <a:rPr lang="en-US" dirty="0"/>
            </a:br>
            <a:r>
              <a:rPr lang="en-US" dirty="0"/>
              <a:t>✔️ No need RDP with notepad</a:t>
            </a:r>
          </a:p>
        </p:txBody>
      </p:sp>
    </p:spTree>
    <p:extLst>
      <p:ext uri="{BB962C8B-B14F-4D97-AF65-F5344CB8AC3E}">
        <p14:creationId xmlns:p14="http://schemas.microsoft.com/office/powerpoint/2010/main" val="1764148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E053C-741E-8349-0EAA-61BB90AA5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  PSBITE is born</a:t>
            </a:r>
          </a:p>
        </p:txBody>
      </p:sp>
      <p:pic>
        <p:nvPicPr>
          <p:cNvPr id="6" name="Content Placeholder 5" descr="Logo">
            <a:extLst>
              <a:ext uri="{FF2B5EF4-FFF2-40B4-BE49-F238E27FC236}">
                <a16:creationId xmlns:a16="http://schemas.microsoft.com/office/drawing/2014/main" id="{230CC313-C2FD-24E8-F88B-5E29559485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34" y="409892"/>
            <a:ext cx="1236028" cy="12360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E453D6-CBD7-6AF5-D8E4-A74AE848AACF}"/>
              </a:ext>
            </a:extLst>
          </p:cNvPr>
          <p:cNvSpPr txBox="1"/>
          <p:nvPr/>
        </p:nvSpPr>
        <p:spPr>
          <a:xfrm>
            <a:off x="5956982" y="843240"/>
            <a:ext cx="3724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"</a:t>
            </a:r>
            <a:r>
              <a:rPr lang="en-US" b="1" dirty="0"/>
              <a:t>P</a:t>
            </a:r>
            <a:r>
              <a:rPr lang="en-US" dirty="0"/>
              <a:t>ower</a:t>
            </a:r>
            <a:r>
              <a:rPr lang="en-US" b="1" dirty="0"/>
              <a:t>S</a:t>
            </a:r>
            <a:r>
              <a:rPr lang="en-US" dirty="0"/>
              <a:t>hell </a:t>
            </a:r>
            <a:r>
              <a:rPr lang="en-US" b="1" dirty="0"/>
              <a:t>B</a:t>
            </a:r>
            <a:r>
              <a:rPr lang="en-US" dirty="0"/>
              <a:t>uffer </a:t>
            </a:r>
            <a:r>
              <a:rPr lang="en-US" b="1" dirty="0"/>
              <a:t>I</a:t>
            </a:r>
            <a:r>
              <a:rPr lang="en-US" dirty="0"/>
              <a:t>nsert </a:t>
            </a:r>
            <a:r>
              <a:rPr lang="en-US" b="1" dirty="0"/>
              <a:t>T</a:t>
            </a:r>
            <a:r>
              <a:rPr lang="en-US" dirty="0"/>
              <a:t>ext </a:t>
            </a:r>
            <a:r>
              <a:rPr lang="en-US" b="1" dirty="0"/>
              <a:t>E</a:t>
            </a:r>
            <a:r>
              <a:rPr lang="en-US" dirty="0"/>
              <a:t>ditor"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766544-4B2B-0C48-EADC-88E0A8D7E673}"/>
              </a:ext>
            </a:extLst>
          </p:cNvPr>
          <p:cNvSpPr txBox="1"/>
          <p:nvPr/>
        </p:nvSpPr>
        <p:spPr>
          <a:xfrm>
            <a:off x="2295894" y="1341594"/>
            <a:ext cx="68178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VIM-like text editor</a:t>
            </a:r>
          </a:p>
          <a:p>
            <a:pPr marL="285750" indent="-285750">
              <a:buFontTx/>
              <a:buChar char="-"/>
            </a:pPr>
            <a:r>
              <a:rPr lang="en-US" dirty="0"/>
              <a:t>Provides a familiar VIM interface with NORMAL and INSERT modes </a:t>
            </a:r>
          </a:p>
          <a:p>
            <a:pPr marL="285750" indent="-285750">
              <a:buFontTx/>
              <a:buChar char="-"/>
            </a:pPr>
            <a:r>
              <a:rPr lang="en-US" dirty="0"/>
              <a:t>Character operations, and real-time remote synchronization.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814249-D844-BF02-0050-5CAF41A99E05}"/>
              </a:ext>
            </a:extLst>
          </p:cNvPr>
          <p:cNvSpPr txBox="1"/>
          <p:nvPr/>
        </p:nvSpPr>
        <p:spPr>
          <a:xfrm>
            <a:off x="3196671" y="3299603"/>
            <a:ext cx="4490332" cy="64633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F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Install-</a:t>
            </a:r>
            <a:r>
              <a:rPr lang="en-US" dirty="0" err="1">
                <a:solidFill>
                  <a:srgbClr val="00F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PSResource</a:t>
            </a:r>
            <a:r>
              <a:rPr lang="en-US" dirty="0">
                <a:solidFill>
                  <a:srgbClr val="00F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-Name PSBITE</a:t>
            </a:r>
          </a:p>
          <a:p>
            <a:r>
              <a:rPr lang="en-US" dirty="0">
                <a:solidFill>
                  <a:srgbClr val="00F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Import-Module -Name PSBITE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0F64DB-60D9-B319-8944-0B663EE34BCB}"/>
              </a:ext>
            </a:extLst>
          </p:cNvPr>
          <p:cNvSpPr txBox="1"/>
          <p:nvPr/>
        </p:nvSpPr>
        <p:spPr>
          <a:xfrm>
            <a:off x="1116885" y="4408411"/>
            <a:ext cx="9175910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rgbClr val="00FA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US" dirty="0"/>
              <a:t>Start-</a:t>
            </a:r>
            <a:r>
              <a:rPr lang="en-US" dirty="0" err="1"/>
              <a:t>PSBite</a:t>
            </a:r>
            <a:r>
              <a:rPr lang="en-US" dirty="0"/>
              <a:t> -</a:t>
            </a:r>
            <a:r>
              <a:rPr lang="en-US" dirty="0" err="1"/>
              <a:t>FilePath</a:t>
            </a:r>
            <a:r>
              <a:rPr lang="en-US" dirty="0"/>
              <a:t> "C:\scripts\remote.ps1" -</a:t>
            </a:r>
            <a:r>
              <a:rPr lang="en-US" dirty="0" err="1"/>
              <a:t>ComputerName</a:t>
            </a:r>
            <a:r>
              <a:rPr lang="en-US" dirty="0"/>
              <a:t> "server01"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9DC488-3EA7-BC17-D46A-5BF3F15B1E4A}"/>
              </a:ext>
            </a:extLst>
          </p:cNvPr>
          <p:cNvSpPr txBox="1"/>
          <p:nvPr/>
        </p:nvSpPr>
        <p:spPr>
          <a:xfrm>
            <a:off x="547018" y="5240220"/>
            <a:ext cx="10315644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rgbClr val="00FA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US" dirty="0"/>
              <a:t>Edit-</a:t>
            </a:r>
            <a:r>
              <a:rPr lang="en-US" dirty="0" err="1"/>
              <a:t>RemoteFile</a:t>
            </a:r>
            <a:r>
              <a:rPr lang="en-US" dirty="0"/>
              <a:t> -</a:t>
            </a:r>
            <a:r>
              <a:rPr lang="en-US" dirty="0" err="1"/>
              <a:t>ComputerName</a:t>
            </a:r>
            <a:r>
              <a:rPr lang="en-US" dirty="0"/>
              <a:t> "server01" -</a:t>
            </a:r>
            <a:r>
              <a:rPr lang="en-US" dirty="0" err="1"/>
              <a:t>RemotePath</a:t>
            </a:r>
            <a:r>
              <a:rPr lang="en-US" dirty="0"/>
              <a:t> "C:\Scripts\test.ps1" -Dual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1807793-9835-E838-84C1-E2EEFBA79F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8953" y="2229990"/>
            <a:ext cx="8525769" cy="426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006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15CF36-815D-6C84-1B22-5EB5209FF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97" y="170628"/>
            <a:ext cx="12095206" cy="62678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25105F-1CEF-15E9-C595-2D131B6E38AE}"/>
              </a:ext>
            </a:extLst>
          </p:cNvPr>
          <p:cNvSpPr txBox="1"/>
          <p:nvPr/>
        </p:nvSpPr>
        <p:spPr>
          <a:xfrm>
            <a:off x="7767687" y="2321650"/>
            <a:ext cx="3477421" cy="286232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- 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       : Enter INSERT mode</a:t>
            </a:r>
          </a:p>
          <a:p>
            <a:r>
              <a:rPr lang="en-US" dirty="0">
                <a:solidFill>
                  <a:schemeClr val="bg1"/>
                </a:solidFill>
              </a:rPr>
              <a:t>- Esc     : Enter NORMAL mode</a:t>
            </a:r>
          </a:p>
          <a:p>
            <a:r>
              <a:rPr lang="en-US" dirty="0">
                <a:solidFill>
                  <a:schemeClr val="bg1"/>
                </a:solidFill>
              </a:rPr>
              <a:t>- y       : Yank (copy) line</a:t>
            </a:r>
          </a:p>
          <a:p>
            <a:r>
              <a:rPr lang="en-US" dirty="0">
                <a:solidFill>
                  <a:schemeClr val="bg1"/>
                </a:solidFill>
              </a:rPr>
              <a:t>- dd      : Delete line</a:t>
            </a:r>
          </a:p>
          <a:p>
            <a:r>
              <a:rPr lang="en-US" dirty="0">
                <a:solidFill>
                  <a:schemeClr val="bg1"/>
                </a:solidFill>
              </a:rPr>
              <a:t>- p       : Paste line</a:t>
            </a:r>
          </a:p>
          <a:p>
            <a:r>
              <a:rPr lang="en-US" dirty="0">
                <a:solidFill>
                  <a:schemeClr val="bg1"/>
                </a:solidFill>
              </a:rPr>
              <a:t>- :w      : Save file</a:t>
            </a:r>
          </a:p>
          <a:p>
            <a:r>
              <a:rPr lang="en-US" dirty="0">
                <a:solidFill>
                  <a:schemeClr val="bg1"/>
                </a:solidFill>
              </a:rPr>
              <a:t>- :q      : Quit</a:t>
            </a:r>
          </a:p>
          <a:p>
            <a:r>
              <a:rPr lang="en-US" dirty="0">
                <a:solidFill>
                  <a:schemeClr val="bg1"/>
                </a:solidFill>
              </a:rPr>
              <a:t>- :q!     : Quit without saving</a:t>
            </a:r>
          </a:p>
          <a:p>
            <a:r>
              <a:rPr lang="en-US" dirty="0">
                <a:solidFill>
                  <a:schemeClr val="bg1"/>
                </a:solidFill>
              </a:rPr>
              <a:t>- :</a:t>
            </a:r>
            <a:r>
              <a:rPr lang="en-US" dirty="0" err="1">
                <a:solidFill>
                  <a:schemeClr val="bg1"/>
                </a:solidFill>
              </a:rPr>
              <a:t>wq</a:t>
            </a:r>
            <a:r>
              <a:rPr lang="en-US" dirty="0">
                <a:solidFill>
                  <a:schemeClr val="bg1"/>
                </a:solidFill>
              </a:rPr>
              <a:t>     : Save and quit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 descr="Finding Dory Dory Transparent PNG Clip Art Image​ | Gallery Yopriceville -  High-Quality Free Images and Transparent PNG Clipart">
            <a:extLst>
              <a:ext uri="{FF2B5EF4-FFF2-40B4-BE49-F238E27FC236}">
                <a16:creationId xmlns:a16="http://schemas.microsoft.com/office/drawing/2014/main" id="{103A20CF-6BB4-46EF-9CC3-C625FBFE1B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81549">
            <a:off x="960177" y="2655409"/>
            <a:ext cx="2683310" cy="26023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8B632D-3B3F-231D-0053-30D15907F200}"/>
              </a:ext>
            </a:extLst>
          </p:cNvPr>
          <p:cNvSpPr txBox="1"/>
          <p:nvPr/>
        </p:nvSpPr>
        <p:spPr>
          <a:xfrm>
            <a:off x="3812018" y="3042957"/>
            <a:ext cx="3735860" cy="523220"/>
          </a:xfrm>
          <a:custGeom>
            <a:avLst/>
            <a:gdLst>
              <a:gd name="csX0" fmla="*/ 0 w 3735860"/>
              <a:gd name="csY0" fmla="*/ 0 h 523220"/>
              <a:gd name="csX1" fmla="*/ 496336 w 3735860"/>
              <a:gd name="csY1" fmla="*/ 0 h 523220"/>
              <a:gd name="csX2" fmla="*/ 917954 w 3735860"/>
              <a:gd name="csY2" fmla="*/ 0 h 523220"/>
              <a:gd name="csX3" fmla="*/ 1526366 w 3735860"/>
              <a:gd name="csY3" fmla="*/ 0 h 523220"/>
              <a:gd name="csX4" fmla="*/ 2022701 w 3735860"/>
              <a:gd name="csY4" fmla="*/ 0 h 523220"/>
              <a:gd name="csX5" fmla="*/ 2519037 w 3735860"/>
              <a:gd name="csY5" fmla="*/ 0 h 523220"/>
              <a:gd name="csX6" fmla="*/ 3127449 w 3735860"/>
              <a:gd name="csY6" fmla="*/ 0 h 523220"/>
              <a:gd name="csX7" fmla="*/ 3735860 w 3735860"/>
              <a:gd name="csY7" fmla="*/ 0 h 523220"/>
              <a:gd name="csX8" fmla="*/ 3735860 w 3735860"/>
              <a:gd name="csY8" fmla="*/ 523220 h 523220"/>
              <a:gd name="csX9" fmla="*/ 3276883 w 3735860"/>
              <a:gd name="csY9" fmla="*/ 523220 h 523220"/>
              <a:gd name="csX10" fmla="*/ 2743189 w 3735860"/>
              <a:gd name="csY10" fmla="*/ 523220 h 523220"/>
              <a:gd name="csX11" fmla="*/ 2209494 w 3735860"/>
              <a:gd name="csY11" fmla="*/ 523220 h 523220"/>
              <a:gd name="csX12" fmla="*/ 1713159 w 3735860"/>
              <a:gd name="csY12" fmla="*/ 523220 h 523220"/>
              <a:gd name="csX13" fmla="*/ 1104747 w 3735860"/>
              <a:gd name="csY13" fmla="*/ 523220 h 523220"/>
              <a:gd name="csX14" fmla="*/ 496336 w 3735860"/>
              <a:gd name="csY14" fmla="*/ 523220 h 523220"/>
              <a:gd name="csX15" fmla="*/ 0 w 3735860"/>
              <a:gd name="csY15" fmla="*/ 523220 h 523220"/>
              <a:gd name="csX16" fmla="*/ 0 w 3735860"/>
              <a:gd name="csY16" fmla="*/ 0 h 5232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735860" h="523220" extrusionOk="0">
                <a:moveTo>
                  <a:pt x="0" y="0"/>
                </a:moveTo>
                <a:cubicBezTo>
                  <a:pt x="199730" y="-13559"/>
                  <a:pt x="329418" y="619"/>
                  <a:pt x="496336" y="0"/>
                </a:cubicBezTo>
                <a:cubicBezTo>
                  <a:pt x="663254" y="-619"/>
                  <a:pt x="832336" y="37687"/>
                  <a:pt x="917954" y="0"/>
                </a:cubicBezTo>
                <a:cubicBezTo>
                  <a:pt x="1003572" y="-37687"/>
                  <a:pt x="1286264" y="21461"/>
                  <a:pt x="1526366" y="0"/>
                </a:cubicBezTo>
                <a:cubicBezTo>
                  <a:pt x="1766468" y="-21461"/>
                  <a:pt x="1898173" y="28537"/>
                  <a:pt x="2022701" y="0"/>
                </a:cubicBezTo>
                <a:cubicBezTo>
                  <a:pt x="2147229" y="-28537"/>
                  <a:pt x="2330943" y="20994"/>
                  <a:pt x="2519037" y="0"/>
                </a:cubicBezTo>
                <a:cubicBezTo>
                  <a:pt x="2707131" y="-20994"/>
                  <a:pt x="2849612" y="22666"/>
                  <a:pt x="3127449" y="0"/>
                </a:cubicBezTo>
                <a:cubicBezTo>
                  <a:pt x="3405286" y="-22666"/>
                  <a:pt x="3434935" y="54986"/>
                  <a:pt x="3735860" y="0"/>
                </a:cubicBezTo>
                <a:cubicBezTo>
                  <a:pt x="3752751" y="127094"/>
                  <a:pt x="3690968" y="354724"/>
                  <a:pt x="3735860" y="523220"/>
                </a:cubicBezTo>
                <a:cubicBezTo>
                  <a:pt x="3630523" y="530267"/>
                  <a:pt x="3504925" y="509316"/>
                  <a:pt x="3276883" y="523220"/>
                </a:cubicBezTo>
                <a:cubicBezTo>
                  <a:pt x="3048841" y="537124"/>
                  <a:pt x="2987975" y="461091"/>
                  <a:pt x="2743189" y="523220"/>
                </a:cubicBezTo>
                <a:cubicBezTo>
                  <a:pt x="2498403" y="585349"/>
                  <a:pt x="2380828" y="503696"/>
                  <a:pt x="2209494" y="523220"/>
                </a:cubicBezTo>
                <a:cubicBezTo>
                  <a:pt x="2038161" y="542744"/>
                  <a:pt x="1935816" y="496200"/>
                  <a:pt x="1713159" y="523220"/>
                </a:cubicBezTo>
                <a:cubicBezTo>
                  <a:pt x="1490503" y="550240"/>
                  <a:pt x="1246277" y="456991"/>
                  <a:pt x="1104747" y="523220"/>
                </a:cubicBezTo>
                <a:cubicBezTo>
                  <a:pt x="963217" y="589449"/>
                  <a:pt x="681764" y="506109"/>
                  <a:pt x="496336" y="523220"/>
                </a:cubicBezTo>
                <a:cubicBezTo>
                  <a:pt x="310908" y="540331"/>
                  <a:pt x="161934" y="468517"/>
                  <a:pt x="0" y="523220"/>
                </a:cubicBezTo>
                <a:cubicBezTo>
                  <a:pt x="-25094" y="310517"/>
                  <a:pt x="19689" y="157266"/>
                  <a:pt x="0" y="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solidFill>
              <a:srgbClr val="0950F5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950F5"/>
                </a:solidFill>
              </a:rPr>
              <a:t>What’s the path again ?</a:t>
            </a:r>
          </a:p>
        </p:txBody>
      </p:sp>
    </p:spTree>
    <p:extLst>
      <p:ext uri="{BB962C8B-B14F-4D97-AF65-F5344CB8AC3E}">
        <p14:creationId xmlns:p14="http://schemas.microsoft.com/office/powerpoint/2010/main" val="288524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DECA1-4082-ADD9-E586-0C93A7201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8D90A-2A49-69AD-9AA1-85BD94186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  PSWEE came 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07C814-18B3-8F83-6156-AE36E781483B}"/>
              </a:ext>
            </a:extLst>
          </p:cNvPr>
          <p:cNvSpPr txBox="1"/>
          <p:nvPr/>
        </p:nvSpPr>
        <p:spPr>
          <a:xfrm>
            <a:off x="6165701" y="843240"/>
            <a:ext cx="3998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"</a:t>
            </a:r>
            <a:r>
              <a:rPr lang="en-US" b="1" dirty="0"/>
              <a:t>P</a:t>
            </a:r>
            <a:r>
              <a:rPr lang="en-US" dirty="0"/>
              <a:t>ower</a:t>
            </a:r>
            <a:r>
              <a:rPr lang="en-US" b="1" dirty="0"/>
              <a:t>S</a:t>
            </a:r>
            <a:r>
              <a:rPr lang="en-US" dirty="0"/>
              <a:t>hell </a:t>
            </a:r>
            <a:r>
              <a:rPr lang="en-US" b="1" dirty="0" err="1"/>
              <a:t>W</a:t>
            </a:r>
            <a:r>
              <a:rPr lang="en-US" dirty="0" err="1"/>
              <a:t>inRM</a:t>
            </a:r>
            <a:r>
              <a:rPr lang="en-US" dirty="0"/>
              <a:t> </a:t>
            </a:r>
            <a:r>
              <a:rPr lang="en-US" b="1" dirty="0"/>
              <a:t>E</a:t>
            </a:r>
            <a:r>
              <a:rPr lang="en-US" dirty="0"/>
              <a:t>mulated </a:t>
            </a:r>
            <a:r>
              <a:rPr lang="en-US" b="1" dirty="0"/>
              <a:t>E</a:t>
            </a:r>
            <a:r>
              <a:rPr lang="en-US" dirty="0"/>
              <a:t>xplorer"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D87398-C8A4-F871-290B-F7237DC696D1}"/>
              </a:ext>
            </a:extLst>
          </p:cNvPr>
          <p:cNvSpPr txBox="1"/>
          <p:nvPr/>
        </p:nvSpPr>
        <p:spPr>
          <a:xfrm>
            <a:off x="3586311" y="5239082"/>
            <a:ext cx="4237057" cy="64633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F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Install-</a:t>
            </a:r>
            <a:r>
              <a:rPr lang="en-US" dirty="0" err="1">
                <a:solidFill>
                  <a:srgbClr val="00F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PSResource</a:t>
            </a:r>
            <a:r>
              <a:rPr lang="en-US" dirty="0">
                <a:solidFill>
                  <a:srgbClr val="00F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-Name PSWEE</a:t>
            </a:r>
          </a:p>
          <a:p>
            <a:r>
              <a:rPr lang="en-US" dirty="0">
                <a:solidFill>
                  <a:srgbClr val="00FA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Import-Module -Name PSWEE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09F26C-6363-E3D8-73C7-DC7442818CD0}"/>
              </a:ext>
            </a:extLst>
          </p:cNvPr>
          <p:cNvSpPr txBox="1"/>
          <p:nvPr/>
        </p:nvSpPr>
        <p:spPr>
          <a:xfrm>
            <a:off x="2573212" y="6013520"/>
            <a:ext cx="6263253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rgbClr val="00FA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US" dirty="0"/>
              <a:t>Start-PSWEE -</a:t>
            </a:r>
            <a:r>
              <a:rPr lang="en-US" dirty="0" err="1"/>
              <a:t>ComputerName</a:t>
            </a:r>
            <a:r>
              <a:rPr lang="en-US" dirty="0"/>
              <a:t> "server01.mydomain.io"</a:t>
            </a:r>
          </a:p>
        </p:txBody>
      </p:sp>
      <p:pic>
        <p:nvPicPr>
          <p:cNvPr id="13" name="Picture 12" descr="Logo">
            <a:extLst>
              <a:ext uri="{FF2B5EF4-FFF2-40B4-BE49-F238E27FC236}">
                <a16:creationId xmlns:a16="http://schemas.microsoft.com/office/drawing/2014/main" id="{7164BF6C-F802-4F24-A92F-3408131F1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073" y="504146"/>
            <a:ext cx="1005567" cy="1005567"/>
          </a:xfrm>
          <a:prstGeom prst="rect">
            <a:avLst/>
          </a:prstGeom>
        </p:spPr>
      </p:pic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39641B0-E5B3-1661-F95E-4BE25CF007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137785"/>
              </p:ext>
            </p:extLst>
          </p:nvPr>
        </p:nvGraphicFramePr>
        <p:xfrm>
          <a:off x="838200" y="1672070"/>
          <a:ext cx="10515600" cy="4800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99130334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30130135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444646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203381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8432197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12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🔗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No dependency</a:t>
                      </a:r>
                      <a:endParaRPr lang="en-US" sz="1200" b="0" i="0" dirty="0">
                        <a:solidFill>
                          <a:srgbClr val="F0F6FC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2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🔒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Secure</a:t>
                      </a:r>
                      <a:endParaRPr lang="en-US" sz="1200" b="0" i="0" dirty="0">
                        <a:solidFill>
                          <a:srgbClr val="F0F6FC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⌨️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Keyboard only</a:t>
                      </a:r>
                      <a:endParaRPr lang="en-US" sz="1200" b="0" i="0">
                        <a:solidFill>
                          <a:srgbClr val="F0F6FC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📝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PSBite integration</a:t>
                      </a:r>
                      <a:endParaRPr lang="en-US" sz="1200" b="0" i="0">
                        <a:solidFill>
                          <a:srgbClr val="F0F6FC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2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🫧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Lightweight</a:t>
                      </a:r>
                      <a:endParaRPr lang="en-US" sz="1200" b="0" i="0" dirty="0">
                        <a:solidFill>
                          <a:srgbClr val="F0F6FC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750772198"/>
                  </a:ext>
                </a:extLst>
              </a:tr>
            </a:tbl>
          </a:graphicData>
        </a:graphic>
      </p:graphicFrame>
      <p:pic>
        <p:nvPicPr>
          <p:cNvPr id="20" name="Graphic 19">
            <a:extLst>
              <a:ext uri="{FF2B5EF4-FFF2-40B4-BE49-F238E27FC236}">
                <a16:creationId xmlns:a16="http://schemas.microsoft.com/office/drawing/2014/main" id="{ED0A774B-6604-7B01-3CCF-4754624A7F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56688" y="1995665"/>
            <a:ext cx="8496300" cy="311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872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tart-PSWEE_wt.png">
            <a:extLst>
              <a:ext uri="{FF2B5EF4-FFF2-40B4-BE49-F238E27FC236}">
                <a16:creationId xmlns:a16="http://schemas.microsoft.com/office/drawing/2014/main" id="{D80C485E-77D0-8FA6-38ED-7F163EC74E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33"/>
          <a:stretch>
            <a:fillRect/>
          </a:stretch>
        </p:blipFill>
        <p:spPr>
          <a:xfrm>
            <a:off x="-118844" y="-69574"/>
            <a:ext cx="12310844" cy="6927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846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167248-C99C-E892-89E1-4CBB81F02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29389"/>
            <a:ext cx="10515600" cy="1004637"/>
          </a:xfrm>
        </p:spPr>
        <p:txBody>
          <a:bodyPr/>
          <a:lstStyle/>
          <a:p>
            <a:r>
              <a:rPr lang="en-GB"/>
              <a:t>Demos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ACAFC7-78CB-98F9-FEF3-D3E8C9FF6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653758"/>
            <a:ext cx="10515600" cy="1500187"/>
          </a:xfrm>
        </p:spPr>
        <p:txBody>
          <a:bodyPr/>
          <a:lstStyle/>
          <a:p>
            <a:r>
              <a:rPr lang="en-GB"/>
              <a:t>We love Demos!</a:t>
            </a: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776AC288-703A-8014-23CA-E040CDD7E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191" y="615392"/>
            <a:ext cx="6127897" cy="50601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17259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063F7B61-5334-421F-9456-A905D333F4B3}"/>
              </a:ext>
            </a:extLst>
          </p:cNvPr>
          <p:cNvSpPr txBox="1">
            <a:spLocks/>
          </p:cNvSpPr>
          <p:nvPr/>
        </p:nvSpPr>
        <p:spPr>
          <a:xfrm>
            <a:off x="831850" y="529389"/>
            <a:ext cx="10515600" cy="10046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3B2B4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Q&amp;A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7911686-C4FE-022C-2490-99F4F5BFDF39}"/>
              </a:ext>
            </a:extLst>
          </p:cNvPr>
          <p:cNvSpPr txBox="1">
            <a:spLocks/>
          </p:cNvSpPr>
          <p:nvPr/>
        </p:nvSpPr>
        <p:spPr>
          <a:xfrm>
            <a:off x="831850" y="1653758"/>
            <a:ext cx="10515600" cy="1500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15 minutes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4697E65-3DA9-6EF3-472C-734FB98C3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477" y="1770873"/>
            <a:ext cx="6729046" cy="35917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34842826"/>
      </p:ext>
    </p:extLst>
  </p:cSld>
  <p:clrMapOvr>
    <a:masterClrMapping/>
  </p:clrMapOvr>
</p:sld>
</file>

<file path=ppt/theme/theme1.xml><?xml version="1.0" encoding="utf-8"?>
<a:theme xmlns:a="http://schemas.openxmlformats.org/drawingml/2006/main" name="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Speaker's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ontent">
  <a:themeElements>
    <a:clrScheme name="PSConfE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6198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0563C1"/>
      </a:folHlink>
    </a:clrScheme>
    <a:fontScheme name="PSConfEU202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3502FDC476714EB47BD1BE2BFD7B3D" ma:contentTypeVersion="14" ma:contentTypeDescription="Create a new document." ma:contentTypeScope="" ma:versionID="9fd144e218e0b23942296a209d2c70fa">
  <xsd:schema xmlns:xsd="http://www.w3.org/2001/XMLSchema" xmlns:xs="http://www.w3.org/2001/XMLSchema" xmlns:p="http://schemas.microsoft.com/office/2006/metadata/properties" xmlns:ns2="abdc9a1f-962e-4235-838d-61f9c438f4db" xmlns:ns3="de47e97d-64fd-4aef-b10e-fd7d6cfcfcf4" targetNamespace="http://schemas.microsoft.com/office/2006/metadata/properties" ma:root="true" ma:fieldsID="e08abc5a48d6a537f3898ce91ef7d96d" ns2:_="" ns3:_="">
    <xsd:import namespace="abdc9a1f-962e-4235-838d-61f9c438f4db"/>
    <xsd:import namespace="de47e97d-64fd-4aef-b10e-fd7d6cfcfcf4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dc9a1f-962e-4235-838d-61f9c438f4db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bd613703-4b30-4a23-b3bf-9e58a81c4a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47e97d-64fd-4aef-b10e-fd7d6cfcfcf4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2f96598e-1e7b-44ab-a102-458ae76ccdba}" ma:internalName="TaxCatchAll" ma:showField="CatchAllData" ma:web="de47e97d-64fd-4aef-b10e-fd7d6cfcfcf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bdc9a1f-962e-4235-838d-61f9c438f4db">
      <Terms xmlns="http://schemas.microsoft.com/office/infopath/2007/PartnerControls"/>
    </lcf76f155ced4ddcb4097134ff3c332f>
    <TaxCatchAll xmlns="de47e97d-64fd-4aef-b10e-fd7d6cfcfcf4" xsi:nil="true"/>
  </documentManagement>
</p:properties>
</file>

<file path=customXml/itemProps1.xml><?xml version="1.0" encoding="utf-8"?>
<ds:datastoreItem xmlns:ds="http://schemas.openxmlformats.org/officeDocument/2006/customXml" ds:itemID="{7422FA21-A9BA-49AC-B085-EFFA162663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bdc9a1f-962e-4235-838d-61f9c438f4db"/>
    <ds:schemaRef ds:uri="de47e97d-64fd-4aef-b10e-fd7d6cfcfcf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7D9B22B-F436-4FE5-B6C0-65AB2260F5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A9C06E3-346E-408E-B352-32E922A070CE}">
  <ds:schemaRefs>
    <ds:schemaRef ds:uri="http://schemas.microsoft.com/office/2006/metadata/properties"/>
    <ds:schemaRef ds:uri="http://schemas.microsoft.com/office/infopath/2007/PartnerControls"/>
    <ds:schemaRef ds:uri="2347cc20-e10c-452d-848a-c18e83138525"/>
    <ds:schemaRef ds:uri="85c0ce47-fe9c-4809-bf88-519c39a738e6"/>
    <ds:schemaRef ds:uri="58c243a5-121d-4837-b81c-114e1b569ece"/>
    <ds:schemaRef ds:uri="77f18391-c91f-4725-9130-63caf76c1806"/>
    <ds:schemaRef ds:uri="abdc9a1f-962e-4235-838d-61f9c438f4db"/>
    <ds:schemaRef ds:uri="de47e97d-64fd-4aef-b10e-fd7d6cfcfcf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3229</TotalTime>
  <Words>409</Words>
  <Application>Microsoft Macintosh PowerPoint</Application>
  <PresentationFormat>Widescreen</PresentationFormat>
  <Paragraphs>69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Arial</vt:lpstr>
      <vt:lpstr>Calibri</vt:lpstr>
      <vt:lpstr>Consolas</vt:lpstr>
      <vt:lpstr>Mona Sans VF</vt:lpstr>
      <vt:lpstr>Stencil</vt:lpstr>
      <vt:lpstr>Wingdings</vt:lpstr>
      <vt:lpstr>Title</vt:lpstr>
      <vt:lpstr>Blank</vt:lpstr>
      <vt:lpstr>Speaker's slide</vt:lpstr>
      <vt:lpstr>Content</vt:lpstr>
      <vt:lpstr>I’ve built what was missing in PSRemoting</vt:lpstr>
      <vt:lpstr>Many thanks to our sponsors:</vt:lpstr>
      <vt:lpstr>Arnaud Charles</vt:lpstr>
      <vt:lpstr>How it started</vt:lpstr>
      <vt:lpstr>How it started</vt:lpstr>
      <vt:lpstr>The need that create the idea</vt:lpstr>
      <vt:lpstr>   PSBITE is born</vt:lpstr>
      <vt:lpstr>PowerPoint Presentation</vt:lpstr>
      <vt:lpstr>   PSWEE came in</vt:lpstr>
      <vt:lpstr>PowerPoint Presentation</vt:lpstr>
      <vt:lpstr>Demos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Arnaud CHARLES</cp:lastModifiedBy>
  <cp:revision>9</cp:revision>
  <dcterms:created xsi:type="dcterms:W3CDTF">2024-03-26T13:08:23Z</dcterms:created>
  <dcterms:modified xsi:type="dcterms:W3CDTF">2026-10-12T00:18:50Z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0x010100333502FDC476714EB47BD1BE2BFD7B3D</vt:lpwstr>
  </property>
</Properties>
</file>